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9" r:id="rId3"/>
    <p:sldId id="260" r:id="rId4"/>
    <p:sldId id="263" r:id="rId5"/>
    <p:sldId id="261" r:id="rId6"/>
    <p:sldId id="262" r:id="rId7"/>
    <p:sldId id="264"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6" d="100"/>
          <a:sy n="66" d="100"/>
        </p:scale>
        <p:origin x="150"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5E649FB-3464-4C1E-9184-64AC107F0962}" type="datetimeFigureOut">
              <a:rPr lang="en-IN" smtClean="0"/>
              <a:t>01-06-2026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957B72B-232B-4ACD-86E1-E8E60E34E7B0}" type="slidenum">
              <a:rPr lang="en-IN" smtClean="0"/>
              <a:t>‹#›</a:t>
            </a:fld>
            <a:endParaRPr lang="en-IN"/>
          </a:p>
        </p:txBody>
      </p:sp>
    </p:spTree>
    <p:extLst>
      <p:ext uri="{BB962C8B-B14F-4D97-AF65-F5344CB8AC3E}">
        <p14:creationId xmlns:p14="http://schemas.microsoft.com/office/powerpoint/2010/main" val="36955393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5E649FB-3464-4C1E-9184-64AC107F0962}" type="datetimeFigureOut">
              <a:rPr lang="en-IN" smtClean="0"/>
              <a:t>01-06-2026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957B72B-232B-4ACD-86E1-E8E60E34E7B0}" type="slidenum">
              <a:rPr lang="en-IN" smtClean="0"/>
              <a:t>‹#›</a:t>
            </a:fld>
            <a:endParaRPr lang="en-IN"/>
          </a:p>
        </p:txBody>
      </p:sp>
    </p:spTree>
    <p:extLst>
      <p:ext uri="{BB962C8B-B14F-4D97-AF65-F5344CB8AC3E}">
        <p14:creationId xmlns:p14="http://schemas.microsoft.com/office/powerpoint/2010/main" val="865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5E649FB-3464-4C1E-9184-64AC107F0962}" type="datetimeFigureOut">
              <a:rPr lang="en-IN" smtClean="0"/>
              <a:t>01-06-2026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957B72B-232B-4ACD-86E1-E8E60E34E7B0}" type="slidenum">
              <a:rPr lang="en-IN" smtClean="0"/>
              <a:t>‹#›</a:t>
            </a:fld>
            <a:endParaRPr lang="en-IN"/>
          </a:p>
        </p:txBody>
      </p:sp>
    </p:spTree>
    <p:extLst>
      <p:ext uri="{BB962C8B-B14F-4D97-AF65-F5344CB8AC3E}">
        <p14:creationId xmlns:p14="http://schemas.microsoft.com/office/powerpoint/2010/main" val="35577967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5E649FB-3464-4C1E-9184-64AC107F0962}" type="datetimeFigureOut">
              <a:rPr lang="en-IN" smtClean="0"/>
              <a:t>01-06-2026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957B72B-232B-4ACD-86E1-E8E60E34E7B0}" type="slidenum">
              <a:rPr lang="en-IN" smtClean="0"/>
              <a:t>‹#›</a:t>
            </a:fld>
            <a:endParaRPr lang="en-IN"/>
          </a:p>
        </p:txBody>
      </p:sp>
    </p:spTree>
    <p:extLst>
      <p:ext uri="{BB962C8B-B14F-4D97-AF65-F5344CB8AC3E}">
        <p14:creationId xmlns:p14="http://schemas.microsoft.com/office/powerpoint/2010/main" val="40241649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5E649FB-3464-4C1E-9184-64AC107F0962}" type="datetimeFigureOut">
              <a:rPr lang="en-IN" smtClean="0"/>
              <a:t>01-06-2026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957B72B-232B-4ACD-86E1-E8E60E34E7B0}" type="slidenum">
              <a:rPr lang="en-IN" smtClean="0"/>
              <a:t>‹#›</a:t>
            </a:fld>
            <a:endParaRPr lang="en-IN"/>
          </a:p>
        </p:txBody>
      </p:sp>
    </p:spTree>
    <p:extLst>
      <p:ext uri="{BB962C8B-B14F-4D97-AF65-F5344CB8AC3E}">
        <p14:creationId xmlns:p14="http://schemas.microsoft.com/office/powerpoint/2010/main" val="4931880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5E649FB-3464-4C1E-9184-64AC107F0962}" type="datetimeFigureOut">
              <a:rPr lang="en-IN" smtClean="0"/>
              <a:t>01-06-2026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957B72B-232B-4ACD-86E1-E8E60E34E7B0}" type="slidenum">
              <a:rPr lang="en-IN" smtClean="0"/>
              <a:t>‹#›</a:t>
            </a:fld>
            <a:endParaRPr lang="en-IN"/>
          </a:p>
        </p:txBody>
      </p:sp>
    </p:spTree>
    <p:extLst>
      <p:ext uri="{BB962C8B-B14F-4D97-AF65-F5344CB8AC3E}">
        <p14:creationId xmlns:p14="http://schemas.microsoft.com/office/powerpoint/2010/main" val="2028262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35E649FB-3464-4C1E-9184-64AC107F0962}" type="datetimeFigureOut">
              <a:rPr lang="en-IN" smtClean="0"/>
              <a:t>01-06-2026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957B72B-232B-4ACD-86E1-E8E60E34E7B0}" type="slidenum">
              <a:rPr lang="en-IN" smtClean="0"/>
              <a:t>‹#›</a:t>
            </a:fld>
            <a:endParaRPr lang="en-IN"/>
          </a:p>
        </p:txBody>
      </p:sp>
    </p:spTree>
    <p:extLst>
      <p:ext uri="{BB962C8B-B14F-4D97-AF65-F5344CB8AC3E}">
        <p14:creationId xmlns:p14="http://schemas.microsoft.com/office/powerpoint/2010/main" val="32610283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5E649FB-3464-4C1E-9184-64AC107F0962}" type="datetimeFigureOut">
              <a:rPr lang="en-IN" smtClean="0"/>
              <a:t>01-06-2026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957B72B-232B-4ACD-86E1-E8E60E34E7B0}" type="slidenum">
              <a:rPr lang="en-IN" smtClean="0"/>
              <a:t>‹#›</a:t>
            </a:fld>
            <a:endParaRPr lang="en-IN"/>
          </a:p>
        </p:txBody>
      </p:sp>
    </p:spTree>
    <p:extLst>
      <p:ext uri="{BB962C8B-B14F-4D97-AF65-F5344CB8AC3E}">
        <p14:creationId xmlns:p14="http://schemas.microsoft.com/office/powerpoint/2010/main" val="41553148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5E649FB-3464-4C1E-9184-64AC107F0962}" type="datetimeFigureOut">
              <a:rPr lang="en-IN" smtClean="0"/>
              <a:t>01-06-2026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957B72B-232B-4ACD-86E1-E8E60E34E7B0}" type="slidenum">
              <a:rPr lang="en-IN" smtClean="0"/>
              <a:t>‹#›</a:t>
            </a:fld>
            <a:endParaRPr lang="en-IN"/>
          </a:p>
        </p:txBody>
      </p:sp>
    </p:spTree>
    <p:extLst>
      <p:ext uri="{BB962C8B-B14F-4D97-AF65-F5344CB8AC3E}">
        <p14:creationId xmlns:p14="http://schemas.microsoft.com/office/powerpoint/2010/main" val="20865485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5E649FB-3464-4C1E-9184-64AC107F0962}" type="datetimeFigureOut">
              <a:rPr lang="en-IN" smtClean="0"/>
              <a:t>01-06-2026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957B72B-232B-4ACD-86E1-E8E60E34E7B0}" type="slidenum">
              <a:rPr lang="en-IN" smtClean="0"/>
              <a:t>‹#›</a:t>
            </a:fld>
            <a:endParaRPr lang="en-IN"/>
          </a:p>
        </p:txBody>
      </p:sp>
    </p:spTree>
    <p:extLst>
      <p:ext uri="{BB962C8B-B14F-4D97-AF65-F5344CB8AC3E}">
        <p14:creationId xmlns:p14="http://schemas.microsoft.com/office/powerpoint/2010/main" val="19125618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5E649FB-3464-4C1E-9184-64AC107F0962}" type="datetimeFigureOut">
              <a:rPr lang="en-IN" smtClean="0"/>
              <a:t>01-06-2026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957B72B-232B-4ACD-86E1-E8E60E34E7B0}" type="slidenum">
              <a:rPr lang="en-IN" smtClean="0"/>
              <a:t>‹#›</a:t>
            </a:fld>
            <a:endParaRPr lang="en-IN"/>
          </a:p>
        </p:txBody>
      </p:sp>
    </p:spTree>
    <p:extLst>
      <p:ext uri="{BB962C8B-B14F-4D97-AF65-F5344CB8AC3E}">
        <p14:creationId xmlns:p14="http://schemas.microsoft.com/office/powerpoint/2010/main" val="39860816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5E649FB-3464-4C1E-9184-64AC107F0962}" type="datetimeFigureOut">
              <a:rPr lang="en-IN" smtClean="0"/>
              <a:t>01-06-2026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957B72B-232B-4ACD-86E1-E8E60E34E7B0}" type="slidenum">
              <a:rPr lang="en-IN" smtClean="0"/>
              <a:t>‹#›</a:t>
            </a:fld>
            <a:endParaRPr lang="en-IN"/>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1599181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5E649FB-3464-4C1E-9184-64AC107F0962}" type="datetimeFigureOut">
              <a:rPr lang="en-IN" smtClean="0"/>
              <a:t>01-06-2026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957B72B-232B-4ACD-86E1-E8E60E34E7B0}" type="slidenum">
              <a:rPr lang="en-IN" smtClean="0"/>
              <a:t>‹#›</a:t>
            </a:fld>
            <a:endParaRPr lang="en-IN"/>
          </a:p>
        </p:txBody>
      </p:sp>
    </p:spTree>
    <p:extLst>
      <p:ext uri="{BB962C8B-B14F-4D97-AF65-F5344CB8AC3E}">
        <p14:creationId xmlns:p14="http://schemas.microsoft.com/office/powerpoint/2010/main" val="22220839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5E649FB-3464-4C1E-9184-64AC107F0962}" type="datetimeFigureOut">
              <a:rPr lang="en-IN" smtClean="0"/>
              <a:t>01-06-2026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957B72B-232B-4ACD-86E1-E8E60E34E7B0}" type="slidenum">
              <a:rPr lang="en-IN" smtClean="0"/>
              <a:t>‹#›</a:t>
            </a:fld>
            <a:endParaRPr lang="en-IN"/>
          </a:p>
        </p:txBody>
      </p:sp>
    </p:spTree>
    <p:extLst>
      <p:ext uri="{BB962C8B-B14F-4D97-AF65-F5344CB8AC3E}">
        <p14:creationId xmlns:p14="http://schemas.microsoft.com/office/powerpoint/2010/main" val="15139587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5E649FB-3464-4C1E-9184-64AC107F0962}" type="datetimeFigureOut">
              <a:rPr lang="en-IN" smtClean="0"/>
              <a:t>01-06-2026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957B72B-232B-4ACD-86E1-E8E60E34E7B0}" type="slidenum">
              <a:rPr lang="en-IN" smtClean="0"/>
              <a:t>‹#›</a:t>
            </a:fld>
            <a:endParaRPr lang="en-IN"/>
          </a:p>
        </p:txBody>
      </p:sp>
    </p:spTree>
    <p:extLst>
      <p:ext uri="{BB962C8B-B14F-4D97-AF65-F5344CB8AC3E}">
        <p14:creationId xmlns:p14="http://schemas.microsoft.com/office/powerpoint/2010/main" val="20346666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5E649FB-3464-4C1E-9184-64AC107F0962}" type="datetimeFigureOut">
              <a:rPr lang="en-IN" smtClean="0"/>
              <a:t>01-06-2026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957B72B-232B-4ACD-86E1-E8E60E34E7B0}" type="slidenum">
              <a:rPr lang="en-IN" smtClean="0"/>
              <a:t>‹#›</a:t>
            </a:fld>
            <a:endParaRPr lang="en-IN"/>
          </a:p>
        </p:txBody>
      </p:sp>
    </p:spTree>
    <p:extLst>
      <p:ext uri="{BB962C8B-B14F-4D97-AF65-F5344CB8AC3E}">
        <p14:creationId xmlns:p14="http://schemas.microsoft.com/office/powerpoint/2010/main" val="35644411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5E649FB-3464-4C1E-9184-64AC107F0962}" type="datetimeFigureOut">
              <a:rPr lang="en-IN" smtClean="0"/>
              <a:t>01-06-2026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957B72B-232B-4ACD-86E1-E8E60E34E7B0}" type="slidenum">
              <a:rPr lang="en-IN" smtClean="0"/>
              <a:t>‹#›</a:t>
            </a:fld>
            <a:endParaRPr lang="en-IN"/>
          </a:p>
        </p:txBody>
      </p:sp>
    </p:spTree>
    <p:extLst>
      <p:ext uri="{BB962C8B-B14F-4D97-AF65-F5344CB8AC3E}">
        <p14:creationId xmlns:p14="http://schemas.microsoft.com/office/powerpoint/2010/main" val="2851969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35E649FB-3464-4C1E-9184-64AC107F0962}" type="datetimeFigureOut">
              <a:rPr lang="en-IN" smtClean="0"/>
              <a:t>01-06-2026</a:t>
            </a:fld>
            <a:endParaRPr lang="en-IN"/>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IN"/>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7957B72B-232B-4ACD-86E1-E8E60E34E7B0}" type="slidenum">
              <a:rPr lang="en-IN" smtClean="0"/>
              <a:t>‹#›</a:t>
            </a:fld>
            <a:endParaRPr lang="en-IN"/>
          </a:p>
        </p:txBody>
      </p:sp>
    </p:spTree>
    <p:extLst>
      <p:ext uri="{BB962C8B-B14F-4D97-AF65-F5344CB8AC3E}">
        <p14:creationId xmlns:p14="http://schemas.microsoft.com/office/powerpoint/2010/main" val="105852823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378D6-567B-9C68-565B-FDA1654BFDC4}"/>
              </a:ext>
            </a:extLst>
          </p:cNvPr>
          <p:cNvSpPr>
            <a:spLocks noGrp="1"/>
          </p:cNvSpPr>
          <p:nvPr>
            <p:ph type="ctrTitle"/>
          </p:nvPr>
        </p:nvSpPr>
        <p:spPr>
          <a:xfrm>
            <a:off x="323557" y="2057400"/>
            <a:ext cx="12309231" cy="1093763"/>
          </a:xfrm>
        </p:spPr>
        <p:txBody>
          <a:bodyPr>
            <a:normAutofit/>
          </a:bodyPr>
          <a:lstStyle/>
          <a:p>
            <a:pPr algn="l"/>
            <a:r>
              <a:rPr lang="en-US" sz="3200" dirty="0"/>
              <a:t>Complete Crash Course for GenAI Application Development</a:t>
            </a:r>
            <a:endParaRPr lang="en-IN" sz="3200" dirty="0"/>
          </a:p>
        </p:txBody>
      </p:sp>
      <p:sp>
        <p:nvSpPr>
          <p:cNvPr id="3" name="Subtitle 2">
            <a:extLst>
              <a:ext uri="{FF2B5EF4-FFF2-40B4-BE49-F238E27FC236}">
                <a16:creationId xmlns:a16="http://schemas.microsoft.com/office/drawing/2014/main" id="{85679458-2D6F-090B-D878-12D534179C74}"/>
              </a:ext>
            </a:extLst>
          </p:cNvPr>
          <p:cNvSpPr>
            <a:spLocks noGrp="1"/>
          </p:cNvSpPr>
          <p:nvPr>
            <p:ph type="subTitle" idx="1"/>
          </p:nvPr>
        </p:nvSpPr>
        <p:spPr>
          <a:xfrm>
            <a:off x="1769012" y="3316458"/>
            <a:ext cx="9418320" cy="1691640"/>
          </a:xfrm>
        </p:spPr>
        <p:txBody>
          <a:bodyPr/>
          <a:lstStyle/>
          <a:p>
            <a:r>
              <a:rPr lang="en-US" dirty="0"/>
              <a:t>Let’s Build Production Ready GenAI application</a:t>
            </a:r>
            <a:endParaRPr lang="en-IN" dirty="0"/>
          </a:p>
        </p:txBody>
      </p:sp>
    </p:spTree>
    <p:extLst>
      <p:ext uri="{BB962C8B-B14F-4D97-AF65-F5344CB8AC3E}">
        <p14:creationId xmlns:p14="http://schemas.microsoft.com/office/powerpoint/2010/main" val="38319546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C7568-6D18-C8D7-B031-2CDDD9D3C9B9}"/>
              </a:ext>
            </a:extLst>
          </p:cNvPr>
          <p:cNvSpPr>
            <a:spLocks noGrp="1"/>
          </p:cNvSpPr>
          <p:nvPr>
            <p:ph type="title"/>
          </p:nvPr>
        </p:nvSpPr>
        <p:spPr>
          <a:xfrm>
            <a:off x="913149" y="473375"/>
            <a:ext cx="10364451" cy="876454"/>
          </a:xfrm>
        </p:spPr>
        <p:txBody>
          <a:bodyPr/>
          <a:lstStyle/>
          <a:p>
            <a:pPr algn="l"/>
            <a:r>
              <a:rPr lang="en-US" dirty="0">
                <a:latin typeface="Times New Roman" panose="02020603050405020304" pitchFamily="18" charset="0"/>
                <a:cs typeface="Times New Roman" panose="02020603050405020304" pitchFamily="18" charset="0"/>
              </a:rPr>
              <a:t>Course Overview</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C005A24-ABEC-F848-5909-DDF64C54D6B3}"/>
              </a:ext>
            </a:extLst>
          </p:cNvPr>
          <p:cNvSpPr>
            <a:spLocks noGrp="1"/>
          </p:cNvSpPr>
          <p:nvPr>
            <p:ph sz="quarter" idx="13"/>
          </p:nvPr>
        </p:nvSpPr>
        <p:spPr>
          <a:xfrm>
            <a:off x="913774" y="1349829"/>
            <a:ext cx="10363826" cy="5174342"/>
          </a:xfrm>
        </p:spPr>
        <p:txBody>
          <a:bodyPr>
            <a:normAutofit/>
          </a:bodyPr>
          <a:lstStyle/>
          <a:p>
            <a:pPr>
              <a:lnSpc>
                <a:spcPct val="100000"/>
              </a:lnSpc>
            </a:pPr>
            <a:r>
              <a:rPr lang="en-US" dirty="0">
                <a:latin typeface="Times New Roman" panose="02020603050405020304" pitchFamily="18" charset="0"/>
                <a:cs typeface="Times New Roman" panose="02020603050405020304" pitchFamily="18" charset="0"/>
              </a:rPr>
              <a:t>Introduction to Generative AI</a:t>
            </a:r>
          </a:p>
          <a:p>
            <a:pPr>
              <a:lnSpc>
                <a:spcPct val="100000"/>
              </a:lnSpc>
            </a:pPr>
            <a:r>
              <a:rPr lang="en-US" dirty="0">
                <a:latin typeface="Times New Roman" panose="02020603050405020304" pitchFamily="18" charset="0"/>
                <a:cs typeface="Times New Roman" panose="02020603050405020304" pitchFamily="18" charset="0"/>
              </a:rPr>
              <a:t>Prompt Engineering</a:t>
            </a:r>
          </a:p>
          <a:p>
            <a:pPr>
              <a:lnSpc>
                <a:spcPct val="100000"/>
              </a:lnSpc>
            </a:pPr>
            <a:r>
              <a:rPr lang="en-US" dirty="0">
                <a:latin typeface="Times New Roman" panose="02020603050405020304" pitchFamily="18" charset="0"/>
                <a:cs typeface="Times New Roman" panose="02020603050405020304" pitchFamily="18" charset="0"/>
              </a:rPr>
              <a:t>Introduction to rag</a:t>
            </a:r>
          </a:p>
          <a:p>
            <a:pPr>
              <a:lnSpc>
                <a:spcPct val="100000"/>
              </a:lnSpc>
            </a:pPr>
            <a:r>
              <a:rPr lang="en-US" dirty="0">
                <a:latin typeface="Times New Roman" panose="02020603050405020304" pitchFamily="18" charset="0"/>
                <a:cs typeface="Times New Roman" panose="02020603050405020304" pitchFamily="18" charset="0"/>
              </a:rPr>
              <a:t>langchain</a:t>
            </a:r>
          </a:p>
          <a:p>
            <a:pPr>
              <a:lnSpc>
                <a:spcPct val="100000"/>
              </a:lnSpc>
            </a:pPr>
            <a:r>
              <a:rPr lang="en-US" dirty="0">
                <a:latin typeface="Times New Roman" panose="02020603050405020304" pitchFamily="18" charset="0"/>
                <a:cs typeface="Times New Roman" panose="02020603050405020304" pitchFamily="18" charset="0"/>
              </a:rPr>
              <a:t>Rag pipeline</a:t>
            </a:r>
          </a:p>
          <a:p>
            <a:pPr>
              <a:lnSpc>
                <a:spcPct val="100000"/>
              </a:lnSpc>
            </a:pPr>
            <a:r>
              <a:rPr lang="en-US" dirty="0">
                <a:latin typeface="Times New Roman" panose="02020603050405020304" pitchFamily="18" charset="0"/>
                <a:cs typeface="Times New Roman" panose="02020603050405020304" pitchFamily="18" charset="0"/>
              </a:rPr>
              <a:t>Build rag application</a:t>
            </a:r>
          </a:p>
          <a:p>
            <a:pPr>
              <a:lnSpc>
                <a:spcPct val="100000"/>
              </a:lnSpc>
            </a:pPr>
            <a:r>
              <a:rPr lang="en-US" dirty="0">
                <a:latin typeface="Times New Roman" panose="02020603050405020304" pitchFamily="18" charset="0"/>
                <a:cs typeface="Times New Roman" panose="02020603050405020304" pitchFamily="18" charset="0"/>
              </a:rPr>
              <a:t>Rag production best practices</a:t>
            </a:r>
          </a:p>
          <a:p>
            <a:pPr>
              <a:lnSpc>
                <a:spcPct val="100000"/>
              </a:lnSpc>
            </a:pPr>
            <a:r>
              <a:rPr lang="en-US" dirty="0">
                <a:latin typeface="Times New Roman" panose="02020603050405020304" pitchFamily="18" charset="0"/>
                <a:cs typeface="Times New Roman" panose="02020603050405020304" pitchFamily="18" charset="0"/>
              </a:rPr>
              <a:t>Introduction to agentic ai &amp; Langgraph</a:t>
            </a:r>
          </a:p>
          <a:p>
            <a:pPr>
              <a:lnSpc>
                <a:spcPct val="100000"/>
              </a:lnSpc>
            </a:pPr>
            <a:r>
              <a:rPr lang="en-US" dirty="0">
                <a:latin typeface="Times New Roman" panose="02020603050405020304" pitchFamily="18" charset="0"/>
                <a:cs typeface="Times New Roman" panose="02020603050405020304" pitchFamily="18" charset="0"/>
              </a:rPr>
              <a:t>Build agentic ai application</a:t>
            </a:r>
          </a:p>
          <a:p>
            <a:pPr>
              <a:lnSpc>
                <a:spcPct val="100000"/>
              </a:lnSpc>
            </a:pPr>
            <a:r>
              <a:rPr lang="en-US" dirty="0">
                <a:latin typeface="Times New Roman" panose="02020603050405020304" pitchFamily="18" charset="0"/>
                <a:cs typeface="Times New Roman" panose="02020603050405020304" pitchFamily="18" charset="0"/>
              </a:rPr>
              <a:t>Production best practices</a:t>
            </a:r>
          </a:p>
          <a:p>
            <a:pPr>
              <a:lnSpc>
                <a:spcPct val="100000"/>
              </a:lnSpc>
            </a:pPr>
            <a:r>
              <a:rPr lang="en-US" dirty="0">
                <a:latin typeface="Times New Roman" panose="02020603050405020304" pitchFamily="18" charset="0"/>
                <a:cs typeface="Times New Roman" panose="02020603050405020304" pitchFamily="18" charset="0"/>
              </a:rPr>
              <a:t>Introduction to </a:t>
            </a:r>
            <a:r>
              <a:rPr lang="en-US" dirty="0" err="1">
                <a:latin typeface="Times New Roman" panose="02020603050405020304" pitchFamily="18" charset="0"/>
                <a:cs typeface="Times New Roman" panose="02020603050405020304" pitchFamily="18" charset="0"/>
              </a:rPr>
              <a:t>Mcp</a:t>
            </a:r>
            <a:endParaRPr lang="en-US" dirty="0">
              <a:latin typeface="Times New Roman" panose="02020603050405020304" pitchFamily="18" charset="0"/>
              <a:cs typeface="Times New Roman" panose="02020603050405020304" pitchFamily="18" charset="0"/>
            </a:endParaRPr>
          </a:p>
          <a:p>
            <a:pPr>
              <a:lnSpc>
                <a:spcPct val="100000"/>
              </a:lnSpc>
            </a:pPr>
            <a:r>
              <a:rPr lang="en-US" dirty="0">
                <a:latin typeface="Times New Roman" panose="02020603050405020304" pitchFamily="18" charset="0"/>
                <a:cs typeface="Times New Roman" panose="02020603050405020304" pitchFamily="18" charset="0"/>
              </a:rPr>
              <a:t>Interview preparation</a:t>
            </a:r>
          </a:p>
          <a:p>
            <a:pPr>
              <a:lnSpc>
                <a:spcPct val="100000"/>
              </a:lnSpc>
            </a:pPr>
            <a:endParaRPr lang="en-US" dirty="0">
              <a:latin typeface="Times New Roman" panose="02020603050405020304" pitchFamily="18" charset="0"/>
              <a:cs typeface="Times New Roman" panose="02020603050405020304" pitchFamily="18" charset="0"/>
            </a:endParaRPr>
          </a:p>
          <a:p>
            <a:pPr>
              <a:lnSpc>
                <a:spcPct val="100000"/>
              </a:lnSpc>
            </a:pPr>
            <a:endParaRPr lang="en-US" dirty="0">
              <a:latin typeface="Times New Roman" panose="02020603050405020304" pitchFamily="18" charset="0"/>
              <a:cs typeface="Times New Roman" panose="02020603050405020304" pitchFamily="18" charset="0"/>
            </a:endParaRPr>
          </a:p>
          <a:p>
            <a:pPr>
              <a:lnSpc>
                <a:spcPct val="100000"/>
              </a:lnSpc>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970352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2A4314-44DD-9BB6-ECCA-50494E1AB0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7C8BF6-C977-3D86-1DB9-85FF42F579DC}"/>
              </a:ext>
            </a:extLst>
          </p:cNvPr>
          <p:cNvSpPr>
            <a:spLocks noGrp="1"/>
          </p:cNvSpPr>
          <p:nvPr>
            <p:ph type="title"/>
          </p:nvPr>
        </p:nvSpPr>
        <p:spPr>
          <a:xfrm>
            <a:off x="913149" y="473375"/>
            <a:ext cx="10364451" cy="876454"/>
          </a:xfrm>
        </p:spPr>
        <p:txBody>
          <a:bodyPr/>
          <a:lstStyle/>
          <a:p>
            <a:pPr algn="l"/>
            <a:r>
              <a:rPr lang="en-US" dirty="0">
                <a:latin typeface="Times New Roman" panose="02020603050405020304" pitchFamily="18" charset="0"/>
                <a:cs typeface="Times New Roman" panose="02020603050405020304" pitchFamily="18" charset="0"/>
              </a:rPr>
              <a:t>Today’s agenda</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2043464-E0E5-E142-747D-FC10BFD0669F}"/>
              </a:ext>
            </a:extLst>
          </p:cNvPr>
          <p:cNvSpPr>
            <a:spLocks noGrp="1"/>
          </p:cNvSpPr>
          <p:nvPr>
            <p:ph sz="quarter" idx="13"/>
          </p:nvPr>
        </p:nvSpPr>
        <p:spPr>
          <a:xfrm>
            <a:off x="913774" y="1349829"/>
            <a:ext cx="10363826" cy="5174342"/>
          </a:xfrm>
        </p:spPr>
        <p:txBody>
          <a:bodyPr>
            <a:normAutofit/>
          </a:bodyPr>
          <a:lstStyle/>
          <a:p>
            <a:pPr>
              <a:lnSpc>
                <a:spcPct val="100000"/>
              </a:lnSpc>
            </a:pPr>
            <a:r>
              <a:rPr lang="en-IN" dirty="0">
                <a:latin typeface="Times New Roman" panose="02020603050405020304" pitchFamily="18" charset="0"/>
                <a:cs typeface="Times New Roman" panose="02020603050405020304" pitchFamily="18" charset="0"/>
              </a:rPr>
              <a:t>What is Generative AI?</a:t>
            </a:r>
            <a:endParaRPr lang="en-US" dirty="0">
              <a:latin typeface="Times New Roman" panose="02020603050405020304" pitchFamily="18" charset="0"/>
              <a:cs typeface="Times New Roman" panose="02020603050405020304" pitchFamily="18" charset="0"/>
            </a:endParaRPr>
          </a:p>
          <a:p>
            <a:pPr>
              <a:lnSpc>
                <a:spcPct val="100000"/>
              </a:lnSpc>
            </a:pPr>
            <a:r>
              <a:rPr lang="en-US" dirty="0">
                <a:latin typeface="Times New Roman" panose="02020603050405020304" pitchFamily="18" charset="0"/>
                <a:cs typeface="Times New Roman" panose="02020603050405020304" pitchFamily="18" charset="0"/>
              </a:rPr>
              <a:t>Making Your First API Call</a:t>
            </a:r>
          </a:p>
          <a:p>
            <a:pPr>
              <a:lnSpc>
                <a:spcPct val="100000"/>
              </a:lnSpc>
            </a:pPr>
            <a:r>
              <a:rPr lang="en-IN" dirty="0">
                <a:latin typeface="Times New Roman" panose="02020603050405020304" pitchFamily="18" charset="0"/>
                <a:cs typeface="Times New Roman" panose="02020603050405020304" pitchFamily="18" charset="0"/>
              </a:rPr>
              <a:t>Create a chatbot</a:t>
            </a:r>
          </a:p>
          <a:p>
            <a:pPr>
              <a:lnSpc>
                <a:spcPct val="100000"/>
              </a:lnSpc>
            </a:pPr>
            <a:r>
              <a:rPr lang="en-IN" dirty="0">
                <a:latin typeface="Times New Roman" panose="02020603050405020304" pitchFamily="18" charset="0"/>
                <a:cs typeface="Times New Roman" panose="02020603050405020304" pitchFamily="18" charset="0"/>
              </a:rPr>
              <a:t>Introduction to Prompt Engineering</a:t>
            </a:r>
          </a:p>
          <a:p>
            <a:pPr>
              <a:lnSpc>
                <a:spcPct val="100000"/>
              </a:lnSpc>
            </a:pPr>
            <a:r>
              <a:rPr lang="en-US" dirty="0">
                <a:latin typeface="Times New Roman" panose="02020603050405020304" pitchFamily="18" charset="0"/>
                <a:cs typeface="Times New Roman" panose="02020603050405020304" pitchFamily="18" charset="0"/>
              </a:rPr>
              <a:t>The Anatomy of a Great Prompt (Components)</a:t>
            </a:r>
          </a:p>
          <a:p>
            <a:pPr>
              <a:lnSpc>
                <a:spcPct val="100000"/>
              </a:lnSpc>
            </a:pPr>
            <a:r>
              <a:rPr lang="en-IN" dirty="0">
                <a:latin typeface="Times New Roman" panose="02020603050405020304" pitchFamily="18" charset="0"/>
                <a:cs typeface="Times New Roman" panose="02020603050405020304" pitchFamily="18" charset="0"/>
              </a:rPr>
              <a:t>Types of Prompt Engineering</a:t>
            </a:r>
          </a:p>
          <a:p>
            <a:pPr>
              <a:lnSpc>
                <a:spcPct val="100000"/>
              </a:lnSpc>
            </a:pPr>
            <a:endParaRPr lang="en-US" dirty="0">
              <a:latin typeface="Times New Roman" panose="02020603050405020304" pitchFamily="18" charset="0"/>
              <a:cs typeface="Times New Roman" panose="02020603050405020304" pitchFamily="18" charset="0"/>
            </a:endParaRPr>
          </a:p>
          <a:p>
            <a:pPr>
              <a:lnSpc>
                <a:spcPct val="100000"/>
              </a:lnSpc>
            </a:pPr>
            <a:endParaRPr lang="en-US" dirty="0">
              <a:latin typeface="Times New Roman" panose="02020603050405020304" pitchFamily="18" charset="0"/>
              <a:cs typeface="Times New Roman" panose="02020603050405020304" pitchFamily="18" charset="0"/>
            </a:endParaRPr>
          </a:p>
          <a:p>
            <a:pPr>
              <a:lnSpc>
                <a:spcPct val="100000"/>
              </a:lnSpc>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160547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1884B8-83EC-DE53-3AD1-8F4F991A8D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263763-E420-29D9-EF69-1BF2243CB8F5}"/>
              </a:ext>
            </a:extLst>
          </p:cNvPr>
          <p:cNvSpPr>
            <a:spLocks noGrp="1"/>
          </p:cNvSpPr>
          <p:nvPr>
            <p:ph type="title"/>
          </p:nvPr>
        </p:nvSpPr>
        <p:spPr>
          <a:xfrm>
            <a:off x="913149" y="473375"/>
            <a:ext cx="10364451" cy="876454"/>
          </a:xfrm>
        </p:spPr>
        <p:txBody>
          <a:bodyPr/>
          <a:lstStyle/>
          <a:p>
            <a:pPr algn="l"/>
            <a:r>
              <a:rPr lang="en-IN" dirty="0"/>
              <a:t>What is Generative AI?</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1E08C13-18AA-2777-14F6-C2E0B1AEDB2E}"/>
              </a:ext>
            </a:extLst>
          </p:cNvPr>
          <p:cNvSpPr>
            <a:spLocks noGrp="1"/>
          </p:cNvSpPr>
          <p:nvPr>
            <p:ph sz="quarter" idx="13"/>
          </p:nvPr>
        </p:nvSpPr>
        <p:spPr>
          <a:xfrm>
            <a:off x="913774" y="1349829"/>
            <a:ext cx="10363826" cy="5174342"/>
          </a:xfrm>
        </p:spPr>
        <p:txBody>
          <a:bodyPr>
            <a:normAutofit/>
          </a:bodyPr>
          <a:lstStyle/>
          <a:p>
            <a:pPr>
              <a:lnSpc>
                <a:spcPct val="100000"/>
              </a:lnSpc>
            </a:pPr>
            <a:r>
              <a:rPr lang="en-US" b="1" dirty="0"/>
              <a:t>Concept:</a:t>
            </a:r>
            <a:r>
              <a:rPr lang="en-US" dirty="0"/>
              <a:t> While traditional AI is designed to analyze data and make predictions (e.g., "Is this a picture of a cat?"), Generative AI is designed to </a:t>
            </a:r>
            <a:r>
              <a:rPr lang="en-US" i="1" dirty="0"/>
              <a:t>create entirely new content</a:t>
            </a:r>
          </a:p>
          <a:p>
            <a:pPr>
              <a:lnSpc>
                <a:spcPct val="100000"/>
              </a:lnSpc>
            </a:pPr>
            <a:r>
              <a:rPr lang="en-US" b="1" dirty="0"/>
              <a:t>Capabilities:</a:t>
            </a:r>
            <a:r>
              <a:rPr lang="en-US" dirty="0"/>
              <a:t> It can generate text, images, computer code, music, and videos based on plain-text instructions.</a:t>
            </a:r>
          </a:p>
          <a:p>
            <a:pPr>
              <a:lnSpc>
                <a:spcPct val="100000"/>
              </a:lnSpc>
            </a:pPr>
            <a:r>
              <a:rPr lang="en-US" b="1" dirty="0"/>
              <a:t>The Shift:</a:t>
            </a:r>
            <a:r>
              <a:rPr lang="en-US" dirty="0"/>
              <a:t> We are moving from AI that relies on "Pattern Recognition" to AI capable of "Pattern Generation."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932974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EB2F1-094A-6DB7-248A-BC1582DC4C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22BD83-91ED-B250-1BDC-5A4EB51E9921}"/>
              </a:ext>
            </a:extLst>
          </p:cNvPr>
          <p:cNvSpPr>
            <a:spLocks noGrp="1"/>
          </p:cNvSpPr>
          <p:nvPr>
            <p:ph type="title"/>
          </p:nvPr>
        </p:nvSpPr>
        <p:spPr>
          <a:xfrm>
            <a:off x="913149" y="473375"/>
            <a:ext cx="10364451" cy="876454"/>
          </a:xfrm>
        </p:spPr>
        <p:txBody>
          <a:bodyPr>
            <a:normAutofit fontScale="90000"/>
          </a:bodyPr>
          <a:lstStyle/>
          <a:p>
            <a:pPr algn="l"/>
            <a:r>
              <a:rPr lang="en-US" b="1" dirty="0"/>
              <a:t>Few-Shot Prompt Example: Sentiment Analysis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4E03140-280D-2DDF-008B-8C8E5206BB24}"/>
              </a:ext>
            </a:extLst>
          </p:cNvPr>
          <p:cNvSpPr>
            <a:spLocks noGrp="1"/>
          </p:cNvSpPr>
          <p:nvPr>
            <p:ph sz="quarter" idx="13"/>
          </p:nvPr>
        </p:nvSpPr>
        <p:spPr>
          <a:xfrm>
            <a:off x="913774" y="1349829"/>
            <a:ext cx="10363826" cy="5174342"/>
          </a:xfrm>
        </p:spPr>
        <p:txBody>
          <a:bodyPr>
            <a:normAutofit/>
          </a:bodyPr>
          <a:lstStyle/>
          <a:p>
            <a:r>
              <a:rPr lang="en-US" b="1" dirty="0"/>
              <a:t>Context/Instruction:</a:t>
            </a:r>
            <a:r>
              <a:rPr lang="en-US" dirty="0"/>
              <a:t> Classify the sentiment of the following customer reviews into one of three categories: Positive, Negative, or Neutral.</a:t>
            </a:r>
          </a:p>
          <a:p>
            <a:r>
              <a:rPr lang="en-US" b="1" dirty="0"/>
              <a:t>Example 1:</a:t>
            </a:r>
            <a:r>
              <a:rPr lang="en-US" dirty="0"/>
              <a:t> Review: "The packaging was completely damaged when it arrived and the item was broken." Sentiment: Negative</a:t>
            </a:r>
          </a:p>
          <a:p>
            <a:r>
              <a:rPr lang="en-US" b="1" dirty="0"/>
              <a:t>Example 2:</a:t>
            </a:r>
            <a:r>
              <a:rPr lang="en-US" dirty="0"/>
              <a:t> Review: "I absolutely love this new update, it saves my team so much time every week!" Sentiment: Positive</a:t>
            </a:r>
          </a:p>
          <a:p>
            <a:r>
              <a:rPr lang="en-US" b="1" dirty="0"/>
              <a:t>Example 3:</a:t>
            </a:r>
            <a:r>
              <a:rPr lang="en-US" dirty="0"/>
              <a:t> Review: "The software update was installed on Tuesday." Sentiment: Neutral</a:t>
            </a:r>
          </a:p>
          <a:p>
            <a:r>
              <a:rPr lang="en-US" b="1" dirty="0"/>
              <a:t>Actual Task (What the AI will answer):</a:t>
            </a:r>
            <a:r>
              <a:rPr lang="en-US" dirty="0"/>
              <a:t> Review: "The battery life on this device is terrible, I have to charge it twice a day just to get by." Sentiment:</a:t>
            </a:r>
          </a:p>
          <a:p>
            <a:pPr>
              <a:lnSpc>
                <a:spcPct val="100000"/>
              </a:lnSpc>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383438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D4C82A-BC25-8F65-4575-F24ED4686A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478DF9-6484-4369-2CEA-50871DA202B7}"/>
              </a:ext>
            </a:extLst>
          </p:cNvPr>
          <p:cNvSpPr>
            <a:spLocks noGrp="1"/>
          </p:cNvSpPr>
          <p:nvPr>
            <p:ph type="title"/>
          </p:nvPr>
        </p:nvSpPr>
        <p:spPr>
          <a:xfrm>
            <a:off x="913149" y="473375"/>
            <a:ext cx="10364451" cy="876454"/>
          </a:xfrm>
        </p:spPr>
        <p:txBody>
          <a:bodyPr>
            <a:noAutofit/>
          </a:bodyPr>
          <a:lstStyle/>
          <a:p>
            <a:pPr algn="l"/>
            <a:r>
              <a:rPr lang="en-US" sz="2800" b="1" dirty="0"/>
              <a:t>Chain-of-Thought (CoT) Prompt Example: Logic &amp; Math</a:t>
            </a:r>
            <a:endParaRPr lang="en-IN" sz="28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5C335E4-F090-5387-5ABC-F5C6B37C98A5}"/>
              </a:ext>
            </a:extLst>
          </p:cNvPr>
          <p:cNvSpPr>
            <a:spLocks noGrp="1"/>
          </p:cNvSpPr>
          <p:nvPr>
            <p:ph sz="quarter" idx="13"/>
          </p:nvPr>
        </p:nvSpPr>
        <p:spPr>
          <a:xfrm>
            <a:off x="913774" y="1349829"/>
            <a:ext cx="10363826" cy="5174342"/>
          </a:xfrm>
        </p:spPr>
        <p:txBody>
          <a:bodyPr>
            <a:normAutofit/>
          </a:bodyPr>
          <a:lstStyle/>
          <a:p>
            <a:r>
              <a:rPr lang="en-US" b="1" dirty="0"/>
              <a:t>Question:</a:t>
            </a:r>
            <a:r>
              <a:rPr lang="en-US" dirty="0"/>
              <a:t> Roger has 5 tennis balls. He goes to the store and buys 2 more cans of tennis balls. Each can has 3 tennis balls. After coming home, he gives 1 tennis ball to his dog to play with. How many tennis balls does Roger have now?</a:t>
            </a:r>
          </a:p>
          <a:p>
            <a:r>
              <a:rPr lang="en-US" b="1" dirty="0"/>
              <a:t>Instruction:</a:t>
            </a:r>
            <a:r>
              <a:rPr lang="en-US" dirty="0"/>
              <a:t> Let's think step-by-step to arrive at the final answer.</a:t>
            </a:r>
          </a:p>
        </p:txBody>
      </p:sp>
    </p:spTree>
    <p:extLst>
      <p:ext uri="{BB962C8B-B14F-4D97-AF65-F5344CB8AC3E}">
        <p14:creationId xmlns:p14="http://schemas.microsoft.com/office/powerpoint/2010/main" val="24403723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851A9-CB6F-CE3D-220A-962D5EE45D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A81E6D-D08B-6922-CB3D-36BB7BD12B88}"/>
              </a:ext>
            </a:extLst>
          </p:cNvPr>
          <p:cNvSpPr>
            <a:spLocks noGrp="1"/>
          </p:cNvSpPr>
          <p:nvPr>
            <p:ph type="title"/>
          </p:nvPr>
        </p:nvSpPr>
        <p:spPr>
          <a:xfrm>
            <a:off x="913149" y="473375"/>
            <a:ext cx="10364451" cy="876454"/>
          </a:xfrm>
        </p:spPr>
        <p:txBody>
          <a:bodyPr>
            <a:noAutofit/>
          </a:bodyPr>
          <a:lstStyle/>
          <a:p>
            <a:pPr algn="l"/>
            <a:r>
              <a:rPr lang="en-IN" sz="2800" b="1" dirty="0"/>
              <a:t>Modular Prompting</a:t>
            </a:r>
          </a:p>
        </p:txBody>
      </p:sp>
      <p:sp>
        <p:nvSpPr>
          <p:cNvPr id="3" name="Content Placeholder 2">
            <a:extLst>
              <a:ext uri="{FF2B5EF4-FFF2-40B4-BE49-F238E27FC236}">
                <a16:creationId xmlns:a16="http://schemas.microsoft.com/office/drawing/2014/main" id="{40ED2028-94C0-06A7-101D-EAF58AAFF27A}"/>
              </a:ext>
            </a:extLst>
          </p:cNvPr>
          <p:cNvSpPr>
            <a:spLocks noGrp="1"/>
          </p:cNvSpPr>
          <p:nvPr>
            <p:ph sz="quarter" idx="13"/>
          </p:nvPr>
        </p:nvSpPr>
        <p:spPr>
          <a:xfrm>
            <a:off x="913774" y="1349829"/>
            <a:ext cx="10363826" cy="5174342"/>
          </a:xfrm>
        </p:spPr>
        <p:txBody>
          <a:bodyPr>
            <a:normAutofit/>
          </a:bodyPr>
          <a:lstStyle/>
          <a:p>
            <a:r>
              <a:rPr lang="en-US" dirty="0"/>
              <a:t>Modular prompting is a technique where you break down a complex prompt into distinct, labeled sections (modules). This structure helps the AI understand the different components of your request and makes the prompt much easier for you to modify and reuse later.</a:t>
            </a:r>
          </a:p>
        </p:txBody>
      </p:sp>
    </p:spTree>
    <p:extLst>
      <p:ext uri="{BB962C8B-B14F-4D97-AF65-F5344CB8AC3E}">
        <p14:creationId xmlns:p14="http://schemas.microsoft.com/office/powerpoint/2010/main" val="3912569967"/>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docProps/app.xml><?xml version="1.0" encoding="utf-8"?>
<Properties xmlns="http://schemas.openxmlformats.org/officeDocument/2006/extended-properties" xmlns:vt="http://schemas.openxmlformats.org/officeDocument/2006/docPropsVTypes">
  <Template>TM04033925[[fn=Droplet]]</Template>
  <TotalTime>35</TotalTime>
  <Words>426</Words>
  <Application>Microsoft Office PowerPoint</Application>
  <PresentationFormat>Widescreen</PresentationFormat>
  <Paragraphs>39</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Times New Roman</vt:lpstr>
      <vt:lpstr>Tw Cen MT</vt:lpstr>
      <vt:lpstr>Droplet</vt:lpstr>
      <vt:lpstr>Complete Crash Course for GenAI Application Development</vt:lpstr>
      <vt:lpstr>Course Overview</vt:lpstr>
      <vt:lpstr>Today’s agenda</vt:lpstr>
      <vt:lpstr>What is Generative AI?</vt:lpstr>
      <vt:lpstr>Few-Shot Prompt Example: Sentiment Analysis</vt:lpstr>
      <vt:lpstr>Chain-of-Thought (CoT) Prompt Example: Logic &amp; Math</vt:lpstr>
      <vt:lpstr>Modular Prompting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Aravind V</dc:creator>
  <cp:lastModifiedBy>Aravind V</cp:lastModifiedBy>
  <cp:revision>4</cp:revision>
  <dcterms:created xsi:type="dcterms:W3CDTF">2026-06-01T14:55:26Z</dcterms:created>
  <dcterms:modified xsi:type="dcterms:W3CDTF">2026-06-01T15:30:53Z</dcterms:modified>
</cp:coreProperties>
</file>